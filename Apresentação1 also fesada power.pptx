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1" r:id="rId3"/>
    <p:sldId id="258" r:id="rId4"/>
    <p:sldId id="257" r:id="rId5"/>
    <p:sldId id="262" r:id="rId6"/>
    <p:sldId id="263" r:id="rId7"/>
    <p:sldId id="264" r:id="rId8"/>
    <p:sldId id="260" r:id="rId9"/>
    <p:sldId id="25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3/14/2025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C0A283AF-FDDB-B19D-73A5-D16BB3CC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1" y="119921"/>
            <a:ext cx="11797259" cy="658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73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EA0FDE-30C8-0376-F2CB-05D84562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1B723DEB-E36D-142B-36DC-2F7A186B80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endParaRPr kumimoji="0" lang="pt-BR" sz="2800" b="1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prstClr val="white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Calisto MT" panose="020406030505050303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prstClr val="white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As centralidades habitacionais em Angola são projetos desenvolvidos para fornecer moradias com infraestrutura planejada em diversas províncias do país. Até agosto de 2023, o país contava com 24 centralidades, totalizando aproximadamente 85 mil habitações, todas já comercializadas.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endParaRPr kumimoji="0" lang="pt-BR" sz="2800" b="1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prstClr val="white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Calisto MT" panose="020406030505050303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prstClr val="white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 No entanto, é importante notar que, apesar de todas as unidades terem sido vendidas, algumas questões de gestão e ocupação ainda persistem. Por exemplo, cerca de 1.500 apartamentos nas centralidades do </a:t>
            </a:r>
            <a:r>
              <a:rPr kumimoji="0" lang="pt-BR" sz="2800" b="1" i="0" u="none" strike="noStrike" kern="1200" cap="none" spc="0" normalizeH="0" baseline="0" noProof="0" dirty="0" err="1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prstClr val="white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Kilamba</a:t>
            </a:r>
            <a:r>
              <a:rPr kumimoji="0" lang="pt-BR" sz="2800" b="1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prstClr val="white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 e do </a:t>
            </a:r>
            <a:r>
              <a:rPr kumimoji="0" lang="pt-BR" sz="2800" b="1" i="0" u="none" strike="noStrike" kern="1200" cap="none" spc="0" normalizeH="0" baseline="0" noProof="0" dirty="0" err="1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prstClr val="white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Sequele</a:t>
            </a:r>
            <a:r>
              <a:rPr kumimoji="0" lang="pt-BR" sz="2800" b="1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prstClr val="white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 não possuem registros claros de comercialização ou titularidade, embora estejam ocupados.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70341A96-8D28-83A2-239C-4110425375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32" y="135836"/>
            <a:ext cx="1048408" cy="989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6326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703AFD-5821-E58E-E956-19A0D8F5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B55F322D-3199-F3B4-7F94-2CE0D6B25B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x-non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pt-BR" sz="36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BR" sz="3600" dirty="0" smtClean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BR" sz="3600" dirty="0" smtClean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indent="-742950" algn="just">
              <a:buAutoNum type="arabicPeriod"/>
            </a:pPr>
            <a:r>
              <a:rPr lang="pt-BR" sz="2400" b="1" dirty="0" smtClean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Redução das Garantias Jurídicas</a:t>
            </a:r>
          </a:p>
          <a:p>
            <a:pPr algn="just"/>
            <a:r>
              <a:rPr lang="pt-BR" sz="2400" dirty="0" smtClean="0">
                <a:latin typeface="+mj-lt"/>
                <a:cs typeface="Times New Roman" panose="02020603050405020304" pitchFamily="18" charset="0"/>
              </a:rPr>
              <a:t>A falta de registo ou de regularização jurídica de um imóvel, implica a redução das garantias jurídicas do seu titular que vê limitado o seu direito de transmitir</a:t>
            </a:r>
            <a:r>
              <a:rPr lang="pt-BR" sz="2400" dirty="0">
                <a:cs typeface="Times New Roman" panose="02020603050405020304" pitchFamily="18" charset="0"/>
              </a:rPr>
              <a:t> </a:t>
            </a:r>
            <a:r>
              <a:rPr lang="pt-BR" sz="2400" dirty="0" smtClean="0">
                <a:cs typeface="Times New Roman" panose="02020603050405020304" pitchFamily="18" charset="0"/>
              </a:rPr>
              <a:t>o imóvel </a:t>
            </a:r>
            <a:r>
              <a:rPr lang="pt-BR" sz="2400" dirty="0">
                <a:cs typeface="Times New Roman" panose="02020603050405020304" pitchFamily="18" charset="0"/>
              </a:rPr>
              <a:t>á </a:t>
            </a:r>
            <a:r>
              <a:rPr lang="pt-BR" sz="2400" dirty="0" smtClean="0">
                <a:cs typeface="Times New Roman" panose="02020603050405020304" pitchFamily="18" charset="0"/>
              </a:rPr>
              <a:t>terceiros ou qualquer outra pessoa de seu interesse</a:t>
            </a:r>
            <a:r>
              <a:rPr lang="pt-BR" sz="2400" dirty="0" smtClean="0">
                <a:latin typeface="+mj-lt"/>
                <a:cs typeface="Times New Roman" panose="02020603050405020304" pitchFamily="18" charset="0"/>
              </a:rPr>
              <a:t> (vender, arrendar, hipotecar, herança, etc) de forma fácil e segura.</a:t>
            </a:r>
            <a:endParaRPr lang="pt-BR" sz="2400" b="1" dirty="0">
              <a:latin typeface="+mj-lt"/>
            </a:endParaRPr>
          </a:p>
          <a:p>
            <a:pPr algn="just"/>
            <a:endParaRPr lang="pt-BR" sz="2400" dirty="0"/>
          </a:p>
          <a:p>
            <a:pPr algn="just"/>
            <a:r>
              <a:rPr lang="pt-BR" sz="2400" dirty="0" smtClean="0"/>
              <a:t>2</a:t>
            </a:r>
            <a:r>
              <a:rPr lang="pt-BR" sz="2400" b="1" dirty="0" smtClean="0"/>
              <a:t>. </a:t>
            </a:r>
            <a:r>
              <a:rPr lang="pt-BR" sz="2400" b="1" smtClean="0"/>
              <a:t>Falta de </a:t>
            </a:r>
            <a:r>
              <a:rPr lang="pt-BR" sz="2400" b="1" smtClean="0"/>
              <a:t>Segurança </a:t>
            </a:r>
            <a:r>
              <a:rPr lang="pt-BR" sz="2400" b="1" dirty="0" smtClean="0"/>
              <a:t>Jurídica</a:t>
            </a:r>
          </a:p>
          <a:p>
            <a:pPr algn="just"/>
            <a:r>
              <a:rPr lang="pt-BR" sz="2400" dirty="0" smtClean="0"/>
              <a:t>Os actos praticados pelos titulares dos imóveis em situação jurídica não regularizada colocam as partes do negócio jurídico em posição de insegurança relativamente a eficácia ou ineficácia, validade ou invalidade dos seus actos, reduzindo a segurança jurídica das transações comerciais no mercado imobiliário e na sociedade em geral. </a:t>
            </a:r>
            <a:endParaRPr lang="pt-BR" sz="2400" dirty="0"/>
          </a:p>
          <a:p>
            <a:pPr algn="just"/>
            <a:endParaRPr lang="pt-BR" sz="2400" dirty="0"/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prstClr val="white"/>
                </a:solidFill>
                <a:latin typeface="Calisto MT" panose="02040603050505030304"/>
              </a:rPr>
              <a:t> 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endParaRPr lang="pt-BR" sz="1600" dirty="0"/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x-non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x-none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664BC9A6-454D-8B46-C9AA-FFD5E0194BF7}"/>
              </a:ext>
            </a:extLst>
          </p:cNvPr>
          <p:cNvSpPr/>
          <p:nvPr/>
        </p:nvSpPr>
        <p:spPr>
          <a:xfrm>
            <a:off x="1547446" y="254833"/>
            <a:ext cx="10428849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x-none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42DF9BFA-2104-5342-73CD-653CE40C45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05" y="121768"/>
            <a:ext cx="1048408" cy="989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3042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38CECF-6D2C-C3A5-4A33-B6203444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B9C85CA3-D41C-8117-9AB4-2580FCC2128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prstClr val="white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                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endParaRPr lang="pt-BR" sz="2800" b="1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prstClr val="white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latin typeface="Calisto MT" panose="02040603050505030304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prstClr val="white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                    3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 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Dificuldades  no trespasse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prstClr val="white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O Promitente comprador não é proprietário oficial do imóvel até que todas as prestações sejam quitadas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Times New Roman" panose="02020603050405020304" pitchFamily="18" charset="0"/>
              </a:rPr>
              <a:t>, e este não tendo condições financeiras para  dar continuidade</a:t>
            </a:r>
            <a:r>
              <a:rPr lang="pt-BR" sz="2400" b="1" dirty="0">
                <a:solidFill>
                  <a:prstClr val="white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, vê-se numa situação difícil de fazer o trespasse à um terceiro.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r>
              <a:rPr lang="pt-BR" sz="2400" b="1" dirty="0">
                <a:solidFill>
                  <a:prstClr val="white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Um imóvel não regularizado, legalizado traz muitas desvantagens tanto para os cidadãos como para o Estado.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r>
              <a:rPr lang="pt-BR" sz="2400" b="1" dirty="0">
                <a:solidFill>
                  <a:prstClr val="white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Desvantagens para o Estado</a:t>
            </a:r>
            <a:r>
              <a:rPr lang="pt-BR" sz="3200" b="1" dirty="0">
                <a:solidFill>
                  <a:prstClr val="white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 </a:t>
            </a:r>
            <a:r>
              <a:rPr lang="pt-BR" sz="2400" b="1" dirty="0">
                <a:solidFill>
                  <a:prstClr val="white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Perda de arrecadação por parte da Entidade  Gestora da Centralidades e perda de receitas fiscais.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endParaRPr lang="pt-BR" sz="2400" b="1" dirty="0">
              <a:solidFill>
                <a:prstClr val="whit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Dificuldade no planejamento urbano – Sem informações precisas sobre os imóveis, torna-se difícil planejar infraestrutura e serviços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.</a:t>
            </a: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endParaRPr lang="pt-BR" sz="2400" b="1" dirty="0">
              <a:solidFill>
                <a:prstClr val="whit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xmlns="" id="{63547FC9-09C2-B3E2-B0E8-0C121CAA62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88" y="119920"/>
            <a:ext cx="1209147" cy="10043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320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D339749F-8FE9-7270-57C5-CBEA7A9B3B93}"/>
              </a:ext>
            </a:extLst>
          </p:cNvPr>
          <p:cNvSpPr/>
          <p:nvPr/>
        </p:nvSpPr>
        <p:spPr>
          <a:xfrm>
            <a:off x="0" y="1"/>
            <a:ext cx="12041945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BR" sz="3200" b="1" dirty="0">
              <a:solidFill>
                <a:prstClr val="white"/>
              </a:solidFill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pt-BR" sz="2800" b="1" dirty="0"/>
              <a:t>Aumento da informalidade – A falta de regularização incentiva a ocupação irregular e a desordem urbana.</a:t>
            </a:r>
          </a:p>
          <a:p>
            <a:pPr algn="just"/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 </a:t>
            </a:r>
            <a:r>
              <a:rPr lang="pt-BR" sz="2800" b="1" dirty="0"/>
              <a:t>Complicações na fiscalização – O governo tem dificuldade em monitorar e fiscalizar áreas com imóveis irregulares.</a:t>
            </a:r>
          </a:p>
          <a:p>
            <a:pPr algn="just"/>
            <a:endParaRPr lang="pt-BR" sz="3200" b="1" dirty="0"/>
          </a:p>
          <a:p>
            <a:pPr algn="just"/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 </a:t>
            </a:r>
            <a:r>
              <a:rPr lang="pt-BR" sz="2800" b="1" dirty="0"/>
              <a:t>Menor controle sobre transações imobiliárias – A compra e venda de imóveis irregulares muitas vezes ocorre sem registro oficial, prejudicando o mercado formal.</a:t>
            </a:r>
          </a:p>
          <a:p>
            <a:pPr algn="just"/>
            <a:endParaRPr lang="pt-BR" sz="3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2CA9D95D-19E0-0528-36E4-489B416408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75" y="121767"/>
            <a:ext cx="1328282" cy="1107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2291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D6D94BA3-0B94-0E0F-AB5F-A35C0C76A4BE}"/>
              </a:ext>
            </a:extLst>
          </p:cNvPr>
          <p:cNvSpPr/>
          <p:nvPr/>
        </p:nvSpPr>
        <p:spPr>
          <a:xfrm>
            <a:off x="98474" y="126609"/>
            <a:ext cx="11985674" cy="65274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3200" b="1" dirty="0">
              <a:solidFill>
                <a:prstClr val="white"/>
              </a:solidFill>
              <a:latin typeface="Calisto MT" panose="02040603050505030304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b="1" dirty="0">
                <a:solidFill>
                  <a:prstClr val="white"/>
                </a:solidFill>
                <a:latin typeface="Calisto MT" panose="02040603050505030304"/>
              </a:rPr>
              <a:t>Desvantagens p</a:t>
            </a:r>
            <a:r>
              <a:rPr kumimoji="0" lang="x-none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ara o Cidadão:</a:t>
            </a: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  <a:p>
            <a:pPr algn="just"/>
            <a:r>
              <a:rPr lang="pt-BR" sz="2400" b="1" dirty="0"/>
              <a:t>Insegurança jurídica – Sem documentação, o proprietário pode perder o imóvel em disputas judiciais ou desapropriações.</a:t>
            </a:r>
          </a:p>
          <a:p>
            <a:pPr algn="just"/>
            <a:endParaRPr lang="pt-BR" sz="2400" b="1" dirty="0"/>
          </a:p>
          <a:p>
            <a:pPr algn="just"/>
            <a:r>
              <a:rPr lang="pt-BR" sz="2400" b="1" dirty="0"/>
              <a:t>Dificuldade para vender ou transferir – A transação de um imóvel irregular torna-se mais difícil e pode ser contestada a qualquer momento.</a:t>
            </a:r>
          </a:p>
          <a:p>
            <a:pPr algn="just"/>
            <a:endParaRPr lang="pt-BR" sz="2400" b="1" dirty="0"/>
          </a:p>
          <a:p>
            <a:pPr algn="just"/>
            <a:r>
              <a:rPr lang="pt-BR" sz="2400" b="1" dirty="0"/>
              <a:t>Desvalorização do imóvel – Sem registro, o imóvel perde valor de mercado e pode ser vendido por um preço abaixo do real.</a:t>
            </a:r>
          </a:p>
          <a:p>
            <a:pPr algn="just"/>
            <a:endParaRPr lang="pt-BR" sz="2400" b="1" dirty="0"/>
          </a:p>
          <a:p>
            <a:pPr algn="just"/>
            <a:r>
              <a:rPr lang="pt-BR" sz="2400" b="1" dirty="0"/>
              <a:t>Possibilidade de multas e penalidades – O proprietário pode ser multado ou até mesmo perder o imóvel se a irregularidade for identificada.</a:t>
            </a:r>
          </a:p>
          <a:p>
            <a:pPr algn="just"/>
            <a:endParaRPr lang="x-none" sz="24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xmlns="" id="{4E629577-CA9D-EF2C-641A-D6E9E394CF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66" y="336471"/>
            <a:ext cx="1048408" cy="989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168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7C505BE1-3043-9D89-5335-6BBE29EF9271}"/>
              </a:ext>
            </a:extLst>
          </p:cNvPr>
          <p:cNvSpPr/>
          <p:nvPr/>
        </p:nvSpPr>
        <p:spPr>
          <a:xfrm>
            <a:off x="112542" y="154744"/>
            <a:ext cx="12079458" cy="635859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pt-BR" sz="3200" b="1" dirty="0"/>
              <a:t>  </a:t>
            </a:r>
            <a:r>
              <a:rPr lang="pt-BR" sz="2800" b="1" dirty="0"/>
              <a:t>Por tanto para superar todos esses inconvenientes relacionados a aquisição de Imóveis nas Centralidades a </a:t>
            </a:r>
            <a:r>
              <a:rPr lang="pt-BR" sz="2800" b="1" dirty="0" err="1"/>
              <a:t>Alson</a:t>
            </a:r>
            <a:r>
              <a:rPr lang="pt-BR" sz="2800" b="1" dirty="0"/>
              <a:t> Sombreiro traz como solução a “</a:t>
            </a:r>
            <a:r>
              <a:rPr lang="pt-BR" sz="2800" b="1" dirty="0" err="1"/>
              <a:t>Fesada</a:t>
            </a:r>
            <a:r>
              <a:rPr lang="pt-BR" sz="2800" b="1" dirty="0"/>
              <a:t>”.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“A </a:t>
            </a:r>
            <a:r>
              <a:rPr lang="pt-BR" sz="3200" b="1" dirty="0">
                <a:solidFill>
                  <a:prstClr val="white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pt-BR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esada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kumimoji="0" lang="pt-B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 um pacote completo que agrupa vários serviços relacionados em um único conjunto, com condições especiais;</a:t>
            </a:r>
            <a:endParaRPr kumimoji="0" lang="x-none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• Regularização</a:t>
            </a:r>
            <a:endParaRPr kumimoji="0" lang="x-none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• Legalização</a:t>
            </a:r>
            <a:endParaRPr kumimoji="0" lang="x-none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• Compra e Venda de Imóveis da Centra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lidade.</a:t>
            </a:r>
            <a:endParaRPr kumimoji="0" lang="x-none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2800" b="1" dirty="0"/>
              <a:t> </a:t>
            </a:r>
            <a:endParaRPr lang="x-none" sz="2800" b="1" dirty="0"/>
          </a:p>
        </p:txBody>
      </p:sp>
    </p:spTree>
    <p:extLst>
      <p:ext uri="{BB962C8B-B14F-4D97-AF65-F5344CB8AC3E}">
        <p14:creationId xmlns:p14="http://schemas.microsoft.com/office/powerpoint/2010/main" val="535457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B7FBE7-91DF-D26D-8A2C-797392362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98BC285-6ACF-9474-3A63-54218E9E3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3810" y="1341619"/>
            <a:ext cx="9608695" cy="4579495"/>
          </a:xfrm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x-none" sz="1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x-none" sz="1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x-none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x-none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x-none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3D5E75A5-EF44-FB6F-89FE-D470A5DB74E2}"/>
              </a:ext>
            </a:extLst>
          </p:cNvPr>
          <p:cNvSpPr/>
          <p:nvPr/>
        </p:nvSpPr>
        <p:spPr>
          <a:xfrm>
            <a:off x="1" y="0"/>
            <a:ext cx="12192000" cy="673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28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Vantagens: </a:t>
            </a:r>
            <a:endParaRPr kumimoji="0" lang="x-none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Facilidade de Compra, Venda e Transferência</a:t>
            </a:r>
            <a:endParaRPr lang="pt-BR" sz="24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x-none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x-none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•</a:t>
            </a:r>
            <a:r>
              <a:rPr lang="pt-BR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 A </a:t>
            </a:r>
            <a:r>
              <a:rPr lang="pt-BR" sz="2400" b="1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Fesada</a:t>
            </a:r>
            <a:r>
              <a:rPr lang="pt-BR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 é um serviço desburocratizado, eficaz,</a:t>
            </a: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 </a:t>
            </a:r>
            <a:r>
              <a:rPr lang="pt-BR" sz="2400" b="1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vita</a:t>
            </a:r>
            <a:r>
              <a:rPr lang="pt-BR" sz="2400" b="1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ndo</a:t>
            </a: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situações incovenientes em cartórios, tornando</a:t>
            </a:r>
            <a:r>
              <a:rPr lang="pt-BR" sz="2400" b="1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legalização e</a:t>
            </a:r>
            <a:r>
              <a:rPr lang="pt-BR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aquisição das moradias</a:t>
            </a: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mais célere</a:t>
            </a:r>
            <a:r>
              <a:rPr lang="pt-BR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segura</a:t>
            </a:r>
            <a:r>
              <a:rPr lang="pt-BR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400" b="1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x-none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•</a:t>
            </a: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Imóveis regularizados e legalizados</a:t>
            </a:r>
            <a:r>
              <a:rPr lang="pt-BR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atrai mais compradores e investidores </a:t>
            </a: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são mais fáceis de vender e transferir</a:t>
            </a:r>
            <a:r>
              <a:rPr lang="pt-BR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um terceiro</a:t>
            </a:r>
            <a:r>
              <a:rPr lang="x-none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pois possuem a documentação completa</a:t>
            </a:r>
            <a:r>
              <a:rPr lang="pt-BR" sz="24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 tem maior valorização de mercado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2400" b="1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 </a:t>
            </a:r>
            <a:r>
              <a:rPr kumimoji="0" lang="x-non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• </a:t>
            </a:r>
            <a:r>
              <a:rPr kumimoji="0" lang="x-non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Facilidade na transmissão do Imóvel para os herdeiros.</a:t>
            </a:r>
            <a:endParaRPr kumimoji="0" lang="x-non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x-none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4A7A1896-94E1-E1DC-75E4-14515233BA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5" y="159429"/>
            <a:ext cx="1329761" cy="1008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1151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3734BC-FE86-8E74-69C1-C86809B9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598E74CE-82BB-3FA0-C863-5E6C97B7C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823" y="794479"/>
            <a:ext cx="11467475" cy="5904093"/>
          </a:xfrm>
        </p:spPr>
        <p:txBody>
          <a:bodyPr/>
          <a:lstStyle/>
          <a:p>
            <a:pPr algn="just"/>
            <a:r>
              <a:rPr lang="pt-BR" dirty="0"/>
              <a:t>               </a:t>
            </a:r>
          </a:p>
          <a:p>
            <a:pPr algn="just"/>
            <a:endParaRPr lang="pt-BR" sz="2800" b="1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C7FB924F-6B6B-5244-6FDB-2D48BCAF01B8}"/>
              </a:ext>
            </a:extLst>
          </p:cNvPr>
          <p:cNvSpPr/>
          <p:nvPr/>
        </p:nvSpPr>
        <p:spPr>
          <a:xfrm>
            <a:off x="91074" y="0"/>
            <a:ext cx="12100925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prstClr val="white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prstClr val="white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</a:t>
            </a:r>
            <a:endParaRPr kumimoji="0" lang="x-none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Segurança Jurídica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x-none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Evita situações adversas com a justiça, como multas, embargos ou até a perda do imóvel.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x-none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•</a:t>
            </a:r>
            <a:r>
              <a:rPr kumimoji="0" lang="x-none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Garantias que o imóvel pertença legalmente ao proprietário, sem risco de reivindicações ou disputas.</a:t>
            </a:r>
            <a:endParaRPr lang="pt-BR" sz="2800" noProof="0" dirty="0">
              <a:solidFill>
                <a:prstClr val="white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prstClr val="white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Facilidade em financiamento de Crédito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x-none" sz="32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•</a:t>
            </a:r>
            <a:r>
              <a:rPr lang="pt-BR" sz="32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 </a:t>
            </a:r>
            <a:r>
              <a:rPr lang="pt-BR" sz="28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 imóveis regularizados e legalizados os Bancos têm mais</a:t>
            </a:r>
            <a:r>
              <a:rPr lang="x-none" sz="2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garantia</a:t>
            </a:r>
            <a:r>
              <a:rPr lang="pt-BR" sz="2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de um negócio seguro e concedem</a:t>
            </a:r>
            <a:r>
              <a:rPr lang="x-none" sz="2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 mais facilidades</a:t>
            </a:r>
            <a:r>
              <a:rPr lang="x-none" sz="2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crédito</a:t>
            </a:r>
            <a:r>
              <a:rPr lang="pt-BR" sz="2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sz="2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imobiliário</a:t>
            </a:r>
            <a:r>
              <a:rPr lang="pt-BR" sz="2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sz="28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x-none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66ACA87B-E21E-F091-CB4A-F4751AE062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5" y="159429"/>
            <a:ext cx="1243050" cy="10847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5388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1D1C2905-542F-DE6A-46D8-C46327F1CC2A}"/>
              </a:ext>
            </a:extLst>
          </p:cNvPr>
          <p:cNvSpPr/>
          <p:nvPr/>
        </p:nvSpPr>
        <p:spPr>
          <a:xfrm>
            <a:off x="0" y="112542"/>
            <a:ext cx="12192000" cy="67454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x-none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x-none" sz="2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pacote Fe</a:t>
            </a:r>
            <a:r>
              <a:rPr lang="pt-BR" sz="2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sz="2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 significa mais segurança, valorização e liberdade para </a:t>
            </a:r>
            <a:r>
              <a:rPr lang="pt-BR" sz="2800" b="1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dispor d</a:t>
            </a:r>
            <a:r>
              <a:rPr lang="x-none" sz="2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seu imóvel da melhor forma. </a:t>
            </a:r>
            <a:endParaRPr lang="x-none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x-none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x-none" sz="32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5525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2710</TotalTime>
  <Words>653</Words>
  <Application>Microsoft Office PowerPoint</Application>
  <PresentationFormat>Ecrã Panorâmico</PresentationFormat>
  <Paragraphs>76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8" baseType="lpstr">
      <vt:lpstr>Calibri</vt:lpstr>
      <vt:lpstr>Calisto MT</vt:lpstr>
      <vt:lpstr>Cambria</vt:lpstr>
      <vt:lpstr>Segoe UI Emoji</vt:lpstr>
      <vt:lpstr>Times New Roman</vt:lpstr>
      <vt:lpstr>Trebuchet MS</vt:lpstr>
      <vt:lpstr>Wingdings 2</vt:lpstr>
      <vt:lpstr>Ardósia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 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helder carlos</dc:creator>
  <cp:lastModifiedBy>Utilizador</cp:lastModifiedBy>
  <cp:revision>20</cp:revision>
  <cp:lastPrinted>2025-03-07T13:22:54Z</cp:lastPrinted>
  <dcterms:created xsi:type="dcterms:W3CDTF">2025-02-27T23:12:47Z</dcterms:created>
  <dcterms:modified xsi:type="dcterms:W3CDTF">2025-03-14T14:57:02Z</dcterms:modified>
</cp:coreProperties>
</file>